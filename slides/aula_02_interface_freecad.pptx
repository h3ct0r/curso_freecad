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14"/>
  </p:notesMasterIdLst>
  <p:sldIdLst>
    <p:sldId id="256" r:id="rId2"/>
    <p:sldId id="366" r:id="rId3"/>
    <p:sldId id="367" r:id="rId4"/>
    <p:sldId id="368" r:id="rId5"/>
    <p:sldId id="369" r:id="rId6"/>
    <p:sldId id="371" r:id="rId7"/>
    <p:sldId id="370" r:id="rId8"/>
    <p:sldId id="372" r:id="rId9"/>
    <p:sldId id="373" r:id="rId10"/>
    <p:sldId id="374" r:id="rId11"/>
    <p:sldId id="375" r:id="rId12"/>
    <p:sldId id="37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60B22"/>
    <a:srgbClr val="B3423F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96" autoAdjust="0"/>
    <p:restoredTop sz="93973" autoAdjust="0"/>
  </p:normalViewPr>
  <p:slideViewPr>
    <p:cSldViewPr snapToGrid="0">
      <p:cViewPr>
        <p:scale>
          <a:sx n="74" d="100"/>
          <a:sy n="74" d="100"/>
        </p:scale>
        <p:origin x="1568" y="11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4FF15-26E7-4EA0-992B-A7CBC66C975B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079A5-3BB3-4520-8BBA-2797485552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6203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Oi </a:t>
            </a:r>
            <a:r>
              <a:rPr lang="en-US" dirty="0" err="1"/>
              <a:t>Pessoal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Geralmente, durante o desenvolvimento, nós vamos gastar mais tempo lendo código (nosso e de outros) do que escrevendo.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Assim</a:t>
            </a:r>
            <a:r>
              <a:rPr lang="en-US" dirty="0"/>
              <a:t>, </a:t>
            </a:r>
            <a:r>
              <a:rPr lang="en-US" dirty="0" err="1"/>
              <a:t>além</a:t>
            </a:r>
            <a:r>
              <a:rPr lang="en-US" dirty="0"/>
              <a:t> de </a:t>
            </a:r>
            <a:r>
              <a:rPr lang="en-US" dirty="0" err="1"/>
              <a:t>funcionar</a:t>
            </a:r>
            <a:r>
              <a:rPr lang="en-US" dirty="0"/>
              <a:t> </a:t>
            </a:r>
            <a:r>
              <a:rPr lang="en-US" dirty="0" err="1"/>
              <a:t>corretamente</a:t>
            </a:r>
            <a:r>
              <a:rPr lang="en-US" dirty="0"/>
              <a:t>, um </a:t>
            </a:r>
            <a:r>
              <a:rPr lang="en-US" dirty="0" err="1"/>
              <a:t>bom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associado</a:t>
            </a:r>
            <a:r>
              <a:rPr lang="en-US" dirty="0"/>
              <a:t> a </a:t>
            </a:r>
            <a:r>
              <a:rPr lang="en-US" dirty="0" err="1"/>
              <a:t>características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legibilidade</a:t>
            </a:r>
            <a:r>
              <a:rPr lang="en-US" dirty="0"/>
              <a:t> e </a:t>
            </a:r>
            <a:r>
              <a:rPr lang="en-US" dirty="0" err="1"/>
              <a:t>facilidade</a:t>
            </a:r>
            <a:r>
              <a:rPr lang="en-US" dirty="0"/>
              <a:t> de </a:t>
            </a:r>
            <a:r>
              <a:rPr lang="en-US" dirty="0" err="1"/>
              <a:t>manutenção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Logo, o </a:t>
            </a:r>
            <a:r>
              <a:rPr lang="en-US" dirty="0" err="1"/>
              <a:t>objetivo</a:t>
            </a:r>
            <a:r>
              <a:rPr lang="en-US" dirty="0"/>
              <a:t> dessa aula é </a:t>
            </a:r>
            <a:r>
              <a:rPr lang="en-US" dirty="0" err="1"/>
              <a:t>apresentar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diretrizes</a:t>
            </a:r>
            <a:r>
              <a:rPr lang="en-US" dirty="0"/>
              <a:t> para o </a:t>
            </a:r>
            <a:r>
              <a:rPr lang="en-US" dirty="0" err="1"/>
              <a:t>desenvolvimento</a:t>
            </a:r>
            <a:r>
              <a:rPr lang="en-US" dirty="0"/>
              <a:t> de um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limpo</a:t>
            </a:r>
            <a:r>
              <a:rPr lang="en-US" dirty="0"/>
              <a:t> e </a:t>
            </a:r>
            <a:r>
              <a:rPr lang="en-US" dirty="0" err="1"/>
              <a:t>bem</a:t>
            </a:r>
            <a:r>
              <a:rPr lang="en-US" dirty="0"/>
              <a:t> </a:t>
            </a:r>
            <a:r>
              <a:rPr lang="en-US" dirty="0" err="1"/>
              <a:t>organizado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0079A5-3BB3-4520-8BBA-2797485552B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332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00" y="2943924"/>
            <a:ext cx="11857565" cy="4850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just">
              <a:defRPr sz="3000" b="1">
                <a:solidFill>
                  <a:srgbClr val="960B22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FFBEFC-5511-449D-8D07-03AA0C370C81}"/>
              </a:ext>
            </a:extLst>
          </p:cNvPr>
          <p:cNvCxnSpPr/>
          <p:nvPr userDrawn="1"/>
        </p:nvCxnSpPr>
        <p:spPr>
          <a:xfrm>
            <a:off x="304800" y="3429000"/>
            <a:ext cx="11582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869553-E16F-4E57-BB9B-B05A35804451}"/>
              </a:ext>
            </a:extLst>
          </p:cNvPr>
          <p:cNvSpPr txBox="1"/>
          <p:nvPr userDrawn="1"/>
        </p:nvSpPr>
        <p:spPr>
          <a:xfrm>
            <a:off x="9631709" y="3429001"/>
            <a:ext cx="2283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800" dirty="0">
                <a:latin typeface="Gill Sans MT" panose="020B0502020104020203" pitchFamily="34" charset="0"/>
              </a:rPr>
              <a:t>Prof.  Héctor Azpúrua</a:t>
            </a:r>
          </a:p>
          <a:p>
            <a:pPr algn="r"/>
            <a:r>
              <a:rPr lang="pt-BR" sz="1400" dirty="0" err="1">
                <a:latin typeface="Gill Sans MT" panose="020B0502020104020203" pitchFamily="34" charset="0"/>
              </a:rPr>
              <a:t>hector.azpurua@dcc.ufmg.br</a:t>
            </a:r>
            <a:endParaRPr lang="pt-BR" sz="1400" dirty="0">
              <a:latin typeface="Gill Sans MT" panose="020B0502020104020203" pitchFamily="34" charset="0"/>
            </a:endParaRPr>
          </a:p>
        </p:txBody>
      </p:sp>
      <p:pic>
        <p:nvPicPr>
          <p:cNvPr id="13" name="Picture 2" descr="C:\Users\doug\AppData\Local\Temp\Rar$DR66.161\aplicacoes_ufmg\principal_completa2_ufmg.jpg">
            <a:extLst>
              <a:ext uri="{FF2B5EF4-FFF2-40B4-BE49-F238E27FC236}">
                <a16:creationId xmlns:a16="http://schemas.microsoft.com/office/drawing/2014/main" id="{B5A27349-7D16-4C4D-BE1D-51B01713D6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3682" y="147320"/>
            <a:ext cx="1584198" cy="858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192212-6AC8-6593-4F3D-ADF2EB8192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6005505"/>
            <a:ext cx="1239541" cy="576412"/>
          </a:xfrm>
          <a:prstGeom prst="rect">
            <a:avLst/>
          </a:prstGeom>
        </p:spPr>
      </p:pic>
      <p:pic>
        <p:nvPicPr>
          <p:cNvPr id="7" name="Picture 6" descr="A black and grey logo&#10;&#10;AI-generated content may be incorrect.">
            <a:extLst>
              <a:ext uri="{FF2B5EF4-FFF2-40B4-BE49-F238E27FC236}">
                <a16:creationId xmlns:a16="http://schemas.microsoft.com/office/drawing/2014/main" id="{92C48D2D-8EEF-1DF8-516A-1BA4282DA16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867" y="6005513"/>
            <a:ext cx="2588023" cy="57639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17CEF51-35D4-FF72-D6AA-C619E86CB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79418" y="5883977"/>
            <a:ext cx="1363425" cy="81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68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D869553-E16F-4E57-BB9B-B05A35804451}"/>
              </a:ext>
            </a:extLst>
          </p:cNvPr>
          <p:cNvSpPr txBox="1"/>
          <p:nvPr userDrawn="1"/>
        </p:nvSpPr>
        <p:spPr>
          <a:xfrm>
            <a:off x="9631709" y="3429001"/>
            <a:ext cx="2283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800" dirty="0">
                <a:latin typeface="Gill Sans MT" panose="020B0502020104020203" pitchFamily="34" charset="0"/>
              </a:rPr>
              <a:t>Prof.  Héctor Azpúrua</a:t>
            </a:r>
          </a:p>
          <a:p>
            <a:pPr algn="r"/>
            <a:r>
              <a:rPr lang="pt-BR" sz="1400" dirty="0" err="1">
                <a:latin typeface="Gill Sans MT" panose="020B0502020104020203" pitchFamily="34" charset="0"/>
              </a:rPr>
              <a:t>hector.azpurua@dcc.ufmg.br</a:t>
            </a:r>
            <a:endParaRPr lang="pt-BR" sz="1400" dirty="0">
              <a:latin typeface="Gill Sans MT" panose="020B0502020104020203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925C866-39AE-41F5-A872-2A8FBD7D4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01" y="2943000"/>
            <a:ext cx="11857564" cy="48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just">
              <a:buNone/>
              <a:defRPr sz="2400">
                <a:solidFill>
                  <a:srgbClr val="960B22"/>
                </a:solidFill>
                <a:latin typeface="Gill Sans MT" panose="020B05020201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pt-BR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75B0694-0EFA-4821-9285-29F99D2C7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00" y="2451556"/>
            <a:ext cx="11857565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just">
              <a:defRPr sz="3000" b="1">
                <a:solidFill>
                  <a:srgbClr val="960B22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189A97-DCCA-4B5F-8A68-903C0FA20AAE}"/>
              </a:ext>
            </a:extLst>
          </p:cNvPr>
          <p:cNvCxnSpPr/>
          <p:nvPr userDrawn="1"/>
        </p:nvCxnSpPr>
        <p:spPr>
          <a:xfrm>
            <a:off x="304800" y="3429000"/>
            <a:ext cx="11582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C:\Users\doug\AppData\Local\Temp\Rar$DR66.161\aplicacoes_ufmg\principal_completa2_ufmg.jpg">
            <a:extLst>
              <a:ext uri="{FF2B5EF4-FFF2-40B4-BE49-F238E27FC236}">
                <a16:creationId xmlns:a16="http://schemas.microsoft.com/office/drawing/2014/main" id="{793B1A98-5367-4822-ACF5-896C6F7E32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3682" y="147320"/>
            <a:ext cx="1584198" cy="858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8D484F-08EC-A6A7-4003-E91C802C5C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6005505"/>
            <a:ext cx="1239541" cy="576412"/>
          </a:xfrm>
          <a:prstGeom prst="rect">
            <a:avLst/>
          </a:prstGeom>
        </p:spPr>
      </p:pic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BF6FADA5-2F83-74C4-B970-3BB297D53E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867" y="6005513"/>
            <a:ext cx="2588023" cy="57639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4D85AFF-7152-C241-DEE6-C9C4B56DCA1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79418" y="5883977"/>
            <a:ext cx="1363425" cy="81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4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44559"/>
            <a:ext cx="11523133" cy="648000"/>
          </a:xfrm>
          <a:prstGeom prst="rect">
            <a:avLst/>
          </a:prstGeom>
        </p:spPr>
        <p:txBody>
          <a:bodyPr anchor="t"/>
          <a:lstStyle>
            <a:lvl1pPr algn="l">
              <a:defRPr sz="4000">
                <a:solidFill>
                  <a:srgbClr val="960B22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6000" y="6413029"/>
            <a:ext cx="7200000" cy="3240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latin typeface="Gill Sans MT" panose="020B0502020104020203" pitchFamily="34" charset="0"/>
              </a:defRPr>
            </a:lvl1pPr>
          </a:lstStyle>
          <a:p>
            <a:r>
              <a:rPr lang="pt-BR" dirty="0"/>
              <a:t>Introdução ao CAD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6967" y="6413029"/>
            <a:ext cx="990600" cy="324000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AB98E5AB-E52C-4D93-AE2B-4B76F5C227DE}" type="slidenum">
              <a:rPr lang="pt-BR" smtClean="0"/>
              <a:pPr/>
              <a:t>‹#›</a:t>
            </a:fld>
            <a:endParaRPr lang="pt-B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3A35CF-02EB-4C0E-9A5A-EF652D55A8B5}"/>
              </a:ext>
            </a:extLst>
          </p:cNvPr>
          <p:cNvSpPr/>
          <p:nvPr userDrawn="1"/>
        </p:nvSpPr>
        <p:spPr>
          <a:xfrm>
            <a:off x="0" y="108559"/>
            <a:ext cx="192000" cy="720000"/>
          </a:xfrm>
          <a:prstGeom prst="rect">
            <a:avLst/>
          </a:prstGeom>
          <a:solidFill>
            <a:srgbClr val="960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E6CEA2-3FAE-4D86-9DED-5709F4165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99196"/>
            <a:ext cx="11506200" cy="4680000"/>
          </a:xfrm>
          <a:prstGeom prst="rect">
            <a:avLst/>
          </a:prstGeom>
        </p:spPr>
        <p:txBody>
          <a:bodyPr/>
          <a:lstStyle>
            <a:lvl1pPr marL="265113" indent="-265113"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3600">
                <a:latin typeface="Gill Sans MT" panose="020B0502020104020203" pitchFamily="34" charset="0"/>
              </a:defRPr>
            </a:lvl1pPr>
            <a:lvl2pPr marL="717550" indent="-260350"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3200">
                <a:latin typeface="Gill Sans MT" panose="020B0502020104020203" pitchFamily="34" charset="0"/>
              </a:defRPr>
            </a:lvl2pPr>
            <a:lvl3pPr marL="1143000" indent="-228600"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800">
                <a:latin typeface="Gill Sans MT" panose="020B0502020104020203" pitchFamily="34" charset="0"/>
              </a:defRPr>
            </a:lvl3pPr>
            <a:lvl4pPr marL="1600200" indent="-228600"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</a:defRPr>
            </a:lvl4pPr>
            <a:lvl5pPr marL="2057400" indent="-228600"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1F845C-93F3-47CE-B540-0C271EFA54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15"/>
          <a:stretch>
            <a:fillRect/>
          </a:stretch>
        </p:blipFill>
        <p:spPr>
          <a:xfrm>
            <a:off x="342901" y="6413029"/>
            <a:ext cx="304800" cy="24441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A176D38-908E-255F-9518-CDEAD8DD75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6190" b="17382"/>
          <a:stretch>
            <a:fillRect/>
          </a:stretch>
        </p:blipFill>
        <p:spPr>
          <a:xfrm>
            <a:off x="1427296" y="6395941"/>
            <a:ext cx="606469" cy="278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D1D871-D744-8C58-370D-5A4DFC286D0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05" y="6395941"/>
            <a:ext cx="278588" cy="27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54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E9ACB299-7952-4A65-9BFB-10E2AF81F2C8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42900" y="710968"/>
            <a:ext cx="11523133" cy="504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just">
              <a:buNone/>
              <a:defRPr sz="2800">
                <a:solidFill>
                  <a:srgbClr val="960B22"/>
                </a:solidFill>
                <a:latin typeface="Gill Sans MT" panose="020B05020201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pt-BR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2500549-C5C2-456C-AD83-222A7F4E2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44559"/>
            <a:ext cx="11523133" cy="648000"/>
          </a:xfrm>
          <a:prstGeom prst="rect">
            <a:avLst/>
          </a:prstGeom>
        </p:spPr>
        <p:txBody>
          <a:bodyPr anchor="t"/>
          <a:lstStyle>
            <a:lvl1pPr algn="l">
              <a:defRPr sz="4000">
                <a:solidFill>
                  <a:srgbClr val="960B22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CFF4DD2-19DF-40F9-9AD4-E9CB9EBD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6000" y="6413029"/>
            <a:ext cx="7200000" cy="3240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latin typeface="Gill Sans MT" panose="020B0502020104020203" pitchFamily="34" charset="0"/>
              </a:defRPr>
            </a:lvl1pPr>
          </a:lstStyle>
          <a:p>
            <a:r>
              <a:rPr lang="pt-BR" dirty="0"/>
              <a:t>Introdução ao CAD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4F6B68B-AD8A-4FED-B734-DB62E19C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6967" y="6413029"/>
            <a:ext cx="990600" cy="324000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AB98E5AB-E52C-4D93-AE2B-4B76F5C227DE}" type="slidenum">
              <a:rPr lang="pt-BR" smtClean="0"/>
              <a:pPr/>
              <a:t>‹#›</a:t>
            </a:fld>
            <a:endParaRPr lang="pt-B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8CD503-CEE2-47A5-9CB7-C3873B42DDF8}"/>
              </a:ext>
            </a:extLst>
          </p:cNvPr>
          <p:cNvSpPr/>
          <p:nvPr userDrawn="1"/>
        </p:nvSpPr>
        <p:spPr>
          <a:xfrm>
            <a:off x="0" y="108560"/>
            <a:ext cx="192000" cy="1106409"/>
          </a:xfrm>
          <a:prstGeom prst="rect">
            <a:avLst/>
          </a:prstGeom>
          <a:solidFill>
            <a:srgbClr val="960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B87B68A-1C73-4CB6-A114-32F0D6527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99196"/>
            <a:ext cx="11506200" cy="4680000"/>
          </a:xfrm>
          <a:prstGeom prst="rect">
            <a:avLst/>
          </a:prstGeom>
        </p:spPr>
        <p:txBody>
          <a:bodyPr/>
          <a:lstStyle>
            <a:lvl1pPr marL="265113" indent="-265113"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3600">
                <a:latin typeface="Gill Sans MT" panose="020B0502020104020203" pitchFamily="34" charset="0"/>
              </a:defRPr>
            </a:lvl1pPr>
            <a:lvl2pPr marL="717550" indent="-260350"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3200">
                <a:latin typeface="Gill Sans MT" panose="020B0502020104020203" pitchFamily="34" charset="0"/>
              </a:defRPr>
            </a:lvl2pPr>
            <a:lvl3pPr marL="1143000" indent="-228600"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800">
                <a:latin typeface="Gill Sans MT" panose="020B0502020104020203" pitchFamily="34" charset="0"/>
              </a:defRPr>
            </a:lvl3pPr>
            <a:lvl4pPr marL="1600200" indent="-228600"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</a:defRPr>
            </a:lvl4pPr>
            <a:lvl5pPr marL="2057400" indent="-228600"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986F17-BD18-387B-0347-AE53457B0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15"/>
          <a:stretch>
            <a:fillRect/>
          </a:stretch>
        </p:blipFill>
        <p:spPr>
          <a:xfrm>
            <a:off x="342901" y="6413029"/>
            <a:ext cx="304800" cy="24441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4C0453-78CE-845C-593E-17F803C21B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6190" b="17382"/>
          <a:stretch>
            <a:fillRect/>
          </a:stretch>
        </p:blipFill>
        <p:spPr>
          <a:xfrm>
            <a:off x="1427296" y="6395941"/>
            <a:ext cx="606469" cy="278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888498-9DBF-070D-01C6-6038B66F11B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05" y="6395941"/>
            <a:ext cx="278588" cy="27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08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17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6" r:id="rId2"/>
    <p:sldLayoutId id="2147483656" r:id="rId3"/>
    <p:sldLayoutId id="2147483667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19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093540-5898-4F4F-B402-D15108CF34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Modulo 1: Interface </a:t>
            </a:r>
            <a:r>
              <a:rPr lang="pt-BR" dirty="0" err="1"/>
              <a:t>FreeCAD</a:t>
            </a:r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7BA67-CA90-41A4-8F64-07A2853F0D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Curso de desenho 3D paramétrico: </a:t>
            </a:r>
            <a:r>
              <a:rPr lang="pt-BR" dirty="0" err="1"/>
              <a:t>FreeCAD</a:t>
            </a:r>
            <a:r>
              <a:rPr lang="pt-BR" dirty="0"/>
              <a:t> para </a:t>
            </a:r>
            <a:r>
              <a:rPr lang="pt-BR" dirty="0" err="1"/>
              <a:t>Makers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7584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3662C43F-A000-955A-D1BA-FB0FFB6B1B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/>
              <a:t>Primeiro uso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6FA2AD-60A2-1008-23A7-42E19027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usuário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C9D257-1AF2-FE17-3CF2-B741EC3C7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Definir língua, unidades e estilo de navegação:</a:t>
            </a:r>
          </a:p>
          <a:p>
            <a:pPr lvl="1"/>
            <a:r>
              <a:rPr lang="pt-BR" dirty="0"/>
              <a:t>Inglês</a:t>
            </a:r>
          </a:p>
          <a:p>
            <a:pPr lvl="1"/>
            <a:r>
              <a:rPr lang="pt-BR" dirty="0"/>
              <a:t>Standard (mm, kg)</a:t>
            </a:r>
          </a:p>
          <a:p>
            <a:pPr lvl="1"/>
            <a:r>
              <a:rPr lang="pt-BR" dirty="0"/>
              <a:t>Estilo </a:t>
            </a:r>
            <a:r>
              <a:rPr lang="pt-BR" i="1" dirty="0"/>
              <a:t>Blender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C7CE67-FFBB-A258-BE87-99BA9FB55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105" y="2121103"/>
            <a:ext cx="7772400" cy="473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9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8E18D-5B6E-1B46-D5FD-6599A157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24D64D3F-4BB9-D87C-D526-1B5CA0E6EFF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/>
              <a:t>Criar um novo documento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9AC51E-F678-0ECE-D8B7-3255E3CB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usuário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83FA92-F413-25D4-2614-BF59AEFF7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criar um novo documento e começar trabalhar</a:t>
            </a:r>
          </a:p>
          <a:p>
            <a:pPr lvl="1"/>
            <a:r>
              <a:rPr lang="pt-BR" i="1" dirty="0"/>
              <a:t>Fazer click na folha com o mais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10BEDA-F229-6E86-C137-9376417A0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36" b="72389"/>
          <a:stretch>
            <a:fillRect/>
          </a:stretch>
        </p:blipFill>
        <p:spPr>
          <a:xfrm>
            <a:off x="4409983" y="2549366"/>
            <a:ext cx="7439117" cy="3237701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6B456F9-F48C-CE2F-DE76-D788E4629A37}"/>
              </a:ext>
            </a:extLst>
          </p:cNvPr>
          <p:cNvSpPr/>
          <p:nvPr/>
        </p:nvSpPr>
        <p:spPr>
          <a:xfrm>
            <a:off x="5050420" y="3172792"/>
            <a:ext cx="1030147" cy="99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D87F423A-14BC-3143-7BBE-94CA56F87D41}"/>
              </a:ext>
            </a:extLst>
          </p:cNvPr>
          <p:cNvCxnSpPr/>
          <p:nvPr/>
        </p:nvCxnSpPr>
        <p:spPr>
          <a:xfrm>
            <a:off x="2824223" y="2562270"/>
            <a:ext cx="2064152" cy="1121138"/>
          </a:xfrm>
          <a:prstGeom prst="bentConnector3">
            <a:avLst>
              <a:gd name="adj1" fmla="val 9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35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79151-5B65-D9B2-62B6-A3B07BA39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432F8F45-FB31-6BFD-BCB3-27418BC01FD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/>
              <a:t>Principais menus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D6F071-B905-25C4-6F46-27BD6943B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usuário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9CDE63-EA90-C8E7-A16B-FB65B3C9F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752" y="1499246"/>
            <a:ext cx="6961348" cy="4679950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47F719A-D369-A6FC-E8BF-EF592B649475}"/>
              </a:ext>
            </a:extLst>
          </p:cNvPr>
          <p:cNvSpPr/>
          <p:nvPr/>
        </p:nvSpPr>
        <p:spPr>
          <a:xfrm>
            <a:off x="4741220" y="1444964"/>
            <a:ext cx="4653022" cy="393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E6BE120E-D8DA-D9CF-0F15-10D46FCFD27F}"/>
              </a:ext>
            </a:extLst>
          </p:cNvPr>
          <p:cNvSpPr txBox="1">
            <a:spLocks/>
          </p:cNvSpPr>
          <p:nvPr/>
        </p:nvSpPr>
        <p:spPr>
          <a:xfrm>
            <a:off x="342900" y="1499196"/>
            <a:ext cx="4398320" cy="4680000"/>
          </a:xfrm>
          <a:prstGeom prst="rect">
            <a:avLst/>
          </a:prstGeom>
        </p:spPr>
        <p:txBody>
          <a:bodyPr anchor="ctr"/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717550" indent="-260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/>
              <a:t>Menu Principal</a:t>
            </a:r>
          </a:p>
          <a:p>
            <a:pPr lvl="1"/>
            <a:r>
              <a:rPr lang="pt-BR" sz="2400" dirty="0"/>
              <a:t>Salvar e abrir arquivos</a:t>
            </a:r>
          </a:p>
          <a:p>
            <a:pPr lvl="1"/>
            <a:r>
              <a:rPr lang="pt-BR" sz="2400" dirty="0"/>
              <a:t>Editar configurações</a:t>
            </a:r>
          </a:p>
          <a:p>
            <a:pPr lvl="1"/>
            <a:r>
              <a:rPr lang="pt-BR" sz="2400" dirty="0"/>
              <a:t>Visualizar Grafo de dependências</a:t>
            </a:r>
          </a:p>
          <a:p>
            <a:pPr lvl="1"/>
            <a:r>
              <a:rPr lang="pt-BR" sz="2400" dirty="0"/>
              <a:t>Abrir/Fechar janelas fechadas</a:t>
            </a:r>
          </a:p>
          <a:p>
            <a:pPr lvl="1"/>
            <a:r>
              <a:rPr lang="pt-BR" sz="2400" dirty="0"/>
              <a:t>Ajuda</a:t>
            </a:r>
          </a:p>
          <a:p>
            <a:r>
              <a:rPr lang="pt-BR" sz="2800" dirty="0"/>
              <a:t>Funções </a:t>
            </a:r>
            <a:r>
              <a:rPr lang="pt-BR" sz="2800" b="1" dirty="0"/>
              <a:t>específicas</a:t>
            </a:r>
            <a:r>
              <a:rPr lang="pt-BR" sz="2800" dirty="0"/>
              <a:t> dependendo do tipo de </a:t>
            </a:r>
            <a:r>
              <a:rPr lang="pt-BR" sz="2800" b="1" i="1" dirty="0"/>
              <a:t>Workbench</a:t>
            </a:r>
          </a:p>
        </p:txBody>
      </p:sp>
    </p:spTree>
    <p:extLst>
      <p:ext uri="{BB962C8B-B14F-4D97-AF65-F5344CB8AC3E}">
        <p14:creationId xmlns:p14="http://schemas.microsoft.com/office/powerpoint/2010/main" val="3482110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62056-A646-2FCD-68F6-95D9CEC3A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E81206A7-0FAD-F274-03A4-E09EDFDAC6D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/>
              <a:t>Barras de ferramentas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34168-EB98-05AA-4497-40317885D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usuário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F851F0-638A-7660-BB4E-D55E00F72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3476" r="29849" b="77377"/>
          <a:stretch>
            <a:fillRect/>
          </a:stretch>
        </p:blipFill>
        <p:spPr>
          <a:xfrm>
            <a:off x="415189" y="2825059"/>
            <a:ext cx="11450844" cy="2101105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2B3BC99-F62D-F137-604E-18F1984E48DD}"/>
              </a:ext>
            </a:extLst>
          </p:cNvPr>
          <p:cNvSpPr/>
          <p:nvPr/>
        </p:nvSpPr>
        <p:spPr>
          <a:xfrm>
            <a:off x="325967" y="3171462"/>
            <a:ext cx="11630681" cy="115746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3F9BD-BCE3-3B14-5F18-3673DE02F9A3}"/>
              </a:ext>
            </a:extLst>
          </p:cNvPr>
          <p:cNvSpPr txBox="1"/>
          <p:nvPr/>
        </p:nvSpPr>
        <p:spPr>
          <a:xfrm>
            <a:off x="674293" y="1781377"/>
            <a:ext cx="125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1. Arquivos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32644F-03EC-2B4E-92B4-82FA0614B3D0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>
            <a:off x="1303568" y="2150709"/>
            <a:ext cx="1" cy="110177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1735996-6771-0CE2-879A-C9AB793C563C}"/>
              </a:ext>
            </a:extLst>
          </p:cNvPr>
          <p:cNvSpPr/>
          <p:nvPr/>
        </p:nvSpPr>
        <p:spPr>
          <a:xfrm>
            <a:off x="616291" y="3252486"/>
            <a:ext cx="1374555" cy="439838"/>
          </a:xfrm>
          <a:prstGeom prst="rect">
            <a:avLst/>
          </a:prstGeom>
          <a:solidFill>
            <a:srgbClr val="92D050">
              <a:alpha val="16078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71F832-BA68-0013-4BF0-44F00DD4C3AD}"/>
              </a:ext>
            </a:extLst>
          </p:cNvPr>
          <p:cNvSpPr txBox="1"/>
          <p:nvPr/>
        </p:nvSpPr>
        <p:spPr>
          <a:xfrm>
            <a:off x="2039288" y="1975436"/>
            <a:ext cx="1215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2. Fazer/</a:t>
            </a:r>
            <a:br>
              <a:rPr lang="pt-BR" b="1" dirty="0"/>
            </a:br>
            <a:r>
              <a:rPr lang="pt-BR" b="1" dirty="0"/>
              <a:t>    Desfazer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E6C9ACE-C650-E741-8415-1770722F1A7B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 flipH="1">
            <a:off x="2635407" y="2621767"/>
            <a:ext cx="11419" cy="61046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88956AB-89B4-53E8-E918-E5451D2AF786}"/>
              </a:ext>
            </a:extLst>
          </p:cNvPr>
          <p:cNvSpPr/>
          <p:nvPr/>
        </p:nvSpPr>
        <p:spPr>
          <a:xfrm>
            <a:off x="2191947" y="3232236"/>
            <a:ext cx="886919" cy="439838"/>
          </a:xfrm>
          <a:prstGeom prst="rect">
            <a:avLst/>
          </a:prstGeom>
          <a:solidFill>
            <a:srgbClr val="92D050">
              <a:alpha val="16078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3A1A8C-37E9-D2E8-E5AC-32076B5EE560}"/>
              </a:ext>
            </a:extLst>
          </p:cNvPr>
          <p:cNvSpPr txBox="1"/>
          <p:nvPr/>
        </p:nvSpPr>
        <p:spPr>
          <a:xfrm>
            <a:off x="2122291" y="1450942"/>
            <a:ext cx="2615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3. </a:t>
            </a:r>
            <a:r>
              <a:rPr lang="pt-BR" b="1" dirty="0" err="1"/>
              <a:t>Recomputar</a:t>
            </a:r>
            <a:r>
              <a:rPr lang="pt-BR" b="1" dirty="0"/>
              <a:t> geometria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EF40FA4-AA5C-159A-E604-79D812B8C190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3429861" y="1820274"/>
            <a:ext cx="0" cy="143221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5B014A1-D885-BB7F-1F65-F696B3AD31F7}"/>
              </a:ext>
            </a:extLst>
          </p:cNvPr>
          <p:cNvSpPr/>
          <p:nvPr/>
        </p:nvSpPr>
        <p:spPr>
          <a:xfrm>
            <a:off x="3208132" y="3252486"/>
            <a:ext cx="443458" cy="439838"/>
          </a:xfrm>
          <a:prstGeom prst="rect">
            <a:avLst/>
          </a:prstGeom>
          <a:solidFill>
            <a:srgbClr val="92D050">
              <a:alpha val="16078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E300EB-29FE-EA7F-E526-575BFDDAB446}"/>
              </a:ext>
            </a:extLst>
          </p:cNvPr>
          <p:cNvSpPr txBox="1"/>
          <p:nvPr/>
        </p:nvSpPr>
        <p:spPr>
          <a:xfrm>
            <a:off x="4070384" y="1975436"/>
            <a:ext cx="2110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4. Áreas de trabalho</a:t>
            </a:r>
          </a:p>
          <a:p>
            <a:r>
              <a:rPr lang="pt-BR" b="1" dirty="0"/>
              <a:t>    ou </a:t>
            </a:r>
            <a:r>
              <a:rPr lang="pt-BR" b="1" i="1" dirty="0"/>
              <a:t>Workbench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44FF62A-912B-14A9-F3DE-C0D94BE50F69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5125513" y="2621767"/>
            <a:ext cx="0" cy="61046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F50D76B-CDF7-94D9-6AAF-9C0E24C05984}"/>
              </a:ext>
            </a:extLst>
          </p:cNvPr>
          <p:cNvSpPr/>
          <p:nvPr/>
        </p:nvSpPr>
        <p:spPr>
          <a:xfrm>
            <a:off x="3827086" y="3232236"/>
            <a:ext cx="2596853" cy="439838"/>
          </a:xfrm>
          <a:prstGeom prst="rect">
            <a:avLst/>
          </a:prstGeom>
          <a:solidFill>
            <a:srgbClr val="92D050">
              <a:alpha val="16078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64E73A-B445-9DF2-7FD7-D249C5F7B8AD}"/>
              </a:ext>
            </a:extLst>
          </p:cNvPr>
          <p:cNvSpPr txBox="1"/>
          <p:nvPr/>
        </p:nvSpPr>
        <p:spPr>
          <a:xfrm>
            <a:off x="6527997" y="1344666"/>
            <a:ext cx="2224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5. Visualização/Zoom</a:t>
            </a:r>
            <a:endParaRPr lang="pt-BR" b="1" i="1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5B28E9E-352B-540A-8BD1-09EE0AF5741D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>
            <a:off x="7640225" y="1713998"/>
            <a:ext cx="0" cy="151237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0A6CC7D4-73E6-C2B0-E120-76653B1ACC91}"/>
              </a:ext>
            </a:extLst>
          </p:cNvPr>
          <p:cNvSpPr/>
          <p:nvPr/>
        </p:nvSpPr>
        <p:spPr>
          <a:xfrm>
            <a:off x="6599436" y="3226375"/>
            <a:ext cx="2081578" cy="439838"/>
          </a:xfrm>
          <a:prstGeom prst="rect">
            <a:avLst/>
          </a:prstGeom>
          <a:solidFill>
            <a:srgbClr val="92D050">
              <a:alpha val="16078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4A1532-FA0C-05BC-7FBB-D954E02E377D}"/>
              </a:ext>
            </a:extLst>
          </p:cNvPr>
          <p:cNvSpPr txBox="1"/>
          <p:nvPr/>
        </p:nvSpPr>
        <p:spPr>
          <a:xfrm>
            <a:off x="8549833" y="2084862"/>
            <a:ext cx="232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6. Tipo de renderizado</a:t>
            </a:r>
            <a:endParaRPr lang="pt-BR" b="1" i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927D43-B7C5-455F-9EE6-F9B5F29B5478}"/>
              </a:ext>
            </a:extLst>
          </p:cNvPr>
          <p:cNvCxnSpPr>
            <a:cxnSpLocks/>
            <a:stCxn id="48" idx="2"/>
            <a:endCxn id="50" idx="0"/>
          </p:cNvCxnSpPr>
          <p:nvPr/>
        </p:nvCxnSpPr>
        <p:spPr>
          <a:xfrm>
            <a:off x="9710215" y="2454194"/>
            <a:ext cx="1" cy="77218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2369A3D5-31F8-4E35-7673-90179719A77D}"/>
              </a:ext>
            </a:extLst>
          </p:cNvPr>
          <p:cNvSpPr/>
          <p:nvPr/>
        </p:nvSpPr>
        <p:spPr>
          <a:xfrm>
            <a:off x="8786129" y="3226375"/>
            <a:ext cx="1848173" cy="439838"/>
          </a:xfrm>
          <a:prstGeom prst="rect">
            <a:avLst/>
          </a:prstGeom>
          <a:solidFill>
            <a:srgbClr val="92D050">
              <a:alpha val="16078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EC0F99-8C85-8466-D14A-943F3DD11B2B}"/>
              </a:ext>
            </a:extLst>
          </p:cNvPr>
          <p:cNvSpPr txBox="1"/>
          <p:nvPr/>
        </p:nvSpPr>
        <p:spPr>
          <a:xfrm>
            <a:off x="10154937" y="1357663"/>
            <a:ext cx="1587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7. Paquímetro</a:t>
            </a:r>
            <a:endParaRPr lang="pt-BR" b="1" i="1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6080B7B-A135-5861-8ED4-32E14FBF4542}"/>
              </a:ext>
            </a:extLst>
          </p:cNvPr>
          <p:cNvCxnSpPr>
            <a:cxnSpLocks/>
            <a:stCxn id="54" idx="2"/>
            <a:endCxn id="56" idx="0"/>
          </p:cNvCxnSpPr>
          <p:nvPr/>
        </p:nvCxnSpPr>
        <p:spPr>
          <a:xfrm>
            <a:off x="10948937" y="1726995"/>
            <a:ext cx="1752" cy="150146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F8D6A109-5C99-65CB-142A-B3E543A1FAEC}"/>
              </a:ext>
            </a:extLst>
          </p:cNvPr>
          <p:cNvSpPr/>
          <p:nvPr/>
        </p:nvSpPr>
        <p:spPr>
          <a:xfrm>
            <a:off x="10705652" y="3228462"/>
            <a:ext cx="490074" cy="439838"/>
          </a:xfrm>
          <a:prstGeom prst="rect">
            <a:avLst/>
          </a:prstGeom>
          <a:solidFill>
            <a:srgbClr val="92D050">
              <a:alpha val="16078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2209F4-8F5C-4E73-235E-BD830D16ECDC}"/>
              </a:ext>
            </a:extLst>
          </p:cNvPr>
          <p:cNvSpPr txBox="1"/>
          <p:nvPr/>
        </p:nvSpPr>
        <p:spPr>
          <a:xfrm>
            <a:off x="4123861" y="5513334"/>
            <a:ext cx="411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8. Ferramentas específicas do </a:t>
            </a:r>
            <a:r>
              <a:rPr lang="pt-BR" b="1" dirty="0" err="1"/>
              <a:t>workbench</a:t>
            </a:r>
            <a:endParaRPr lang="pt-BR" b="1" i="1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E137609-0C8C-EC49-339C-A35689C844A3}"/>
              </a:ext>
            </a:extLst>
          </p:cNvPr>
          <p:cNvCxnSpPr>
            <a:cxnSpLocks/>
            <a:stCxn id="60" idx="0"/>
            <a:endCxn id="62" idx="2"/>
          </p:cNvCxnSpPr>
          <p:nvPr/>
        </p:nvCxnSpPr>
        <p:spPr>
          <a:xfrm flipV="1">
            <a:off x="6180642" y="4230546"/>
            <a:ext cx="11602" cy="128278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8C65EE01-D51E-DD35-5E91-05BECF44434B}"/>
              </a:ext>
            </a:extLst>
          </p:cNvPr>
          <p:cNvSpPr/>
          <p:nvPr/>
        </p:nvSpPr>
        <p:spPr>
          <a:xfrm>
            <a:off x="607677" y="3790708"/>
            <a:ext cx="11169133" cy="439838"/>
          </a:xfrm>
          <a:prstGeom prst="rect">
            <a:avLst/>
          </a:prstGeom>
          <a:solidFill>
            <a:srgbClr val="92D050">
              <a:alpha val="16078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8822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AD563-8004-598F-D2D1-1B0EFDFBD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7E8C5662-8988-9416-E530-7204F3CBBA4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 err="1"/>
              <a:t>Workbenches</a:t>
            </a:r>
            <a:endParaRPr lang="pt-B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4B9DF9-42AD-69D4-700F-F3A2DEEB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usuário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64AF3F-0E50-9768-4995-5D23B97B4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3476" r="62055" b="77377"/>
          <a:stretch>
            <a:fillRect/>
          </a:stretch>
        </p:blipFill>
        <p:spPr>
          <a:xfrm>
            <a:off x="2550865" y="4045927"/>
            <a:ext cx="6193951" cy="2101105"/>
          </a:xfr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A2AF3A1-95E6-7A16-2D00-9ED81E20DB06}"/>
              </a:ext>
            </a:extLst>
          </p:cNvPr>
          <p:cNvSpPr txBox="1"/>
          <p:nvPr/>
        </p:nvSpPr>
        <p:spPr>
          <a:xfrm>
            <a:off x="6206060" y="3196304"/>
            <a:ext cx="2110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4. Áreas de trabalho</a:t>
            </a:r>
          </a:p>
          <a:p>
            <a:r>
              <a:rPr lang="pt-BR" b="1" dirty="0"/>
              <a:t>    ou </a:t>
            </a:r>
            <a:r>
              <a:rPr lang="pt-BR" b="1" i="1" dirty="0"/>
              <a:t>Workbench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737F467-3579-7090-4974-894C582EC03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7261189" y="3842635"/>
            <a:ext cx="0" cy="61046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761C177-8CEE-3C2D-F0D3-83FDCF560377}"/>
              </a:ext>
            </a:extLst>
          </p:cNvPr>
          <p:cNvSpPr/>
          <p:nvPr/>
        </p:nvSpPr>
        <p:spPr>
          <a:xfrm>
            <a:off x="5962762" y="4453104"/>
            <a:ext cx="2596853" cy="439838"/>
          </a:xfrm>
          <a:prstGeom prst="rect">
            <a:avLst/>
          </a:prstGeom>
          <a:solidFill>
            <a:srgbClr val="92D050">
              <a:alpha val="16078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AC953CB-F638-95E4-3808-2E8F5BD09898}"/>
              </a:ext>
            </a:extLst>
          </p:cNvPr>
          <p:cNvSpPr txBox="1">
            <a:spLocks/>
          </p:cNvSpPr>
          <p:nvPr/>
        </p:nvSpPr>
        <p:spPr>
          <a:xfrm>
            <a:off x="342898" y="1499196"/>
            <a:ext cx="9842823" cy="1697108"/>
          </a:xfrm>
          <a:prstGeom prst="rect">
            <a:avLst/>
          </a:prstGeom>
        </p:spPr>
        <p:txBody>
          <a:bodyPr anchor="t"/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717550" indent="-260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/>
              <a:t>O que são as bancadas ou </a:t>
            </a:r>
            <a:r>
              <a:rPr lang="pt-BR" sz="2800" b="1" dirty="0" err="1"/>
              <a:t>workbenches</a:t>
            </a:r>
            <a:r>
              <a:rPr lang="pt-BR" sz="2800" dirty="0"/>
              <a:t>?</a:t>
            </a:r>
          </a:p>
          <a:p>
            <a:pPr lvl="1"/>
            <a:r>
              <a:rPr lang="pt-BR" sz="2000" dirty="0"/>
              <a:t>São um conjunto de ferramentas dedicado a uma tarefa em específica:</a:t>
            </a:r>
          </a:p>
          <a:p>
            <a:pPr lvl="2"/>
            <a:r>
              <a:rPr lang="pt-BR" sz="1600" dirty="0"/>
              <a:t>Desenho 2D</a:t>
            </a:r>
          </a:p>
          <a:p>
            <a:pPr lvl="2"/>
            <a:r>
              <a:rPr lang="pt-BR" sz="1600" dirty="0"/>
              <a:t>Desenho 3D</a:t>
            </a:r>
          </a:p>
          <a:p>
            <a:pPr lvl="2"/>
            <a:r>
              <a:rPr lang="pt-BR" sz="1600" dirty="0"/>
              <a:t>Ensamblagem, etc.</a:t>
            </a:r>
          </a:p>
        </p:txBody>
      </p:sp>
    </p:spTree>
    <p:extLst>
      <p:ext uri="{BB962C8B-B14F-4D97-AF65-F5344CB8AC3E}">
        <p14:creationId xmlns:p14="http://schemas.microsoft.com/office/powerpoint/2010/main" val="2566448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BF9C0-339D-2386-FC04-B4974A43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7EAFC00F-2988-D959-343F-62F81AF2FAA8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 err="1"/>
              <a:t>Workbenches</a:t>
            </a:r>
            <a:endParaRPr lang="pt-B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CE7156-C7AC-BD5E-9489-621B89967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usuário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1179AC-85A8-642A-24B4-C43A5A7F6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832" y="0"/>
            <a:ext cx="2196032" cy="6858000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7F7494B-3A01-56C4-38B3-A7E2D0E653AC}"/>
              </a:ext>
            </a:extLst>
          </p:cNvPr>
          <p:cNvSpPr txBox="1">
            <a:spLocks/>
          </p:cNvSpPr>
          <p:nvPr/>
        </p:nvSpPr>
        <p:spPr>
          <a:xfrm>
            <a:off x="342899" y="1499196"/>
            <a:ext cx="7701506" cy="1697108"/>
          </a:xfrm>
          <a:prstGeom prst="rect">
            <a:avLst/>
          </a:prstGeom>
        </p:spPr>
        <p:txBody>
          <a:bodyPr anchor="t"/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717550" indent="-260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/>
              <a:t>Ao fazer click no ícone de </a:t>
            </a:r>
            <a:r>
              <a:rPr lang="pt-BR" sz="2800" b="1" dirty="0" err="1"/>
              <a:t>workbench</a:t>
            </a:r>
            <a:r>
              <a:rPr lang="pt-BR" sz="2800" dirty="0"/>
              <a:t>, serão abertas todas as áreas de trabalho instaladas:</a:t>
            </a:r>
          </a:p>
          <a:p>
            <a:pPr lvl="1"/>
            <a:r>
              <a:rPr lang="pt-BR" sz="2400" dirty="0"/>
              <a:t>Podem ser instaladas novas áreas usando </a:t>
            </a:r>
            <a:r>
              <a:rPr lang="pt-BR" sz="2400" b="1" dirty="0"/>
              <a:t>plugins</a:t>
            </a:r>
            <a:r>
              <a:rPr lang="pt-BR" sz="2400" dirty="0"/>
              <a:t>! </a:t>
            </a:r>
          </a:p>
          <a:p>
            <a:pPr lvl="1"/>
            <a:r>
              <a:rPr lang="pt-BR" sz="2400" dirty="0"/>
              <a:t>Todos de graça/open </a:t>
            </a:r>
            <a:r>
              <a:rPr lang="pt-BR" sz="2400" dirty="0" err="1"/>
              <a:t>source</a:t>
            </a:r>
            <a:endParaRPr lang="pt-BR" sz="2400" dirty="0"/>
          </a:p>
          <a:p>
            <a:r>
              <a:rPr lang="pt-BR" sz="2800" b="1" dirty="0"/>
              <a:t>Quais são as mais usadas?</a:t>
            </a:r>
          </a:p>
        </p:txBody>
      </p:sp>
      <p:pic>
        <p:nvPicPr>
          <p:cNvPr id="13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C95556-528B-7F5C-B59D-095E5E6C4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3476" r="62055" b="77377"/>
          <a:stretch>
            <a:fillRect/>
          </a:stretch>
        </p:blipFill>
        <p:spPr>
          <a:xfrm>
            <a:off x="2550865" y="4045927"/>
            <a:ext cx="6193951" cy="21011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5CBC0EE-860E-BA09-4881-F4BBE28B26A2}"/>
              </a:ext>
            </a:extLst>
          </p:cNvPr>
          <p:cNvSpPr txBox="1"/>
          <p:nvPr/>
        </p:nvSpPr>
        <p:spPr>
          <a:xfrm>
            <a:off x="6206060" y="3196304"/>
            <a:ext cx="2110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4. Áreas de trabalho</a:t>
            </a:r>
          </a:p>
          <a:p>
            <a:r>
              <a:rPr lang="pt-BR" b="1" dirty="0"/>
              <a:t>    ou </a:t>
            </a:r>
            <a:r>
              <a:rPr lang="pt-BR" b="1" i="1" dirty="0"/>
              <a:t>Workbench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4118D1-3FDA-7D00-3565-7FCAC1D9919B}"/>
              </a:ext>
            </a:extLst>
          </p:cNvPr>
          <p:cNvSpPr/>
          <p:nvPr/>
        </p:nvSpPr>
        <p:spPr>
          <a:xfrm>
            <a:off x="5962762" y="4453104"/>
            <a:ext cx="2596853" cy="439838"/>
          </a:xfrm>
          <a:prstGeom prst="rect">
            <a:avLst/>
          </a:prstGeom>
          <a:solidFill>
            <a:srgbClr val="92D050">
              <a:alpha val="16078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0BB235-5FD1-A97E-497E-03D2C6C48C4F}"/>
              </a:ext>
            </a:extLst>
          </p:cNvPr>
          <p:cNvCxnSpPr>
            <a:cxnSpLocks/>
          </p:cNvCxnSpPr>
          <p:nvPr/>
        </p:nvCxnSpPr>
        <p:spPr>
          <a:xfrm>
            <a:off x="7261189" y="3842635"/>
            <a:ext cx="0" cy="61046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98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B5D6BB3-14EE-64B4-27E3-3D49B363A6E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/>
              <a:t>Vista Combinada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399E37-9E63-3735-1953-FF9E7E070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usuário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2C262-5FF8-B336-6BB6-20184AC1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Introdução ao CAD</a:t>
            </a:r>
            <a:endParaRPr lang="pt-B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77A49-8701-CE3A-07AA-ECD5B90DB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E5AB-E52C-4D93-AE2B-4B76F5C227DE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714C31-9A92-5994-FBB4-79CFC8265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99196"/>
            <a:ext cx="5537039" cy="4680000"/>
          </a:xfrm>
        </p:spPr>
        <p:txBody>
          <a:bodyPr anchor="ctr"/>
          <a:lstStyle/>
          <a:p>
            <a:pPr lvl="1"/>
            <a:r>
              <a:rPr lang="pt-BR" b="1" dirty="0"/>
              <a:t>Aba Modelo</a:t>
            </a:r>
          </a:p>
          <a:p>
            <a:pPr lvl="2"/>
            <a:r>
              <a:rPr lang="pt-BR" dirty="0"/>
              <a:t>Como esta sendo feito o trabalho</a:t>
            </a:r>
          </a:p>
          <a:p>
            <a:pPr lvl="2"/>
            <a:r>
              <a:rPr lang="pt-BR" dirty="0"/>
              <a:t>Editar nome, visualizar dados, etc.</a:t>
            </a:r>
          </a:p>
          <a:p>
            <a:pPr lvl="2"/>
            <a:r>
              <a:rPr lang="pt-BR" dirty="0"/>
              <a:t>Histórico de comandos</a:t>
            </a:r>
          </a:p>
          <a:p>
            <a:pPr lvl="1"/>
            <a:r>
              <a:rPr lang="pt-BR" b="1" dirty="0"/>
              <a:t>Aba Tarefas</a:t>
            </a:r>
          </a:p>
          <a:p>
            <a:pPr lvl="2"/>
            <a:r>
              <a:rPr lang="pt-BR" dirty="0"/>
              <a:t>Ações a serem realizadas segundo a operação selecionada</a:t>
            </a:r>
          </a:p>
        </p:txBody>
      </p:sp>
      <p:pic>
        <p:nvPicPr>
          <p:cNvPr id="7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06C344-F273-5EAC-708D-923FC7565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3" r="37196"/>
          <a:stretch>
            <a:fillRect/>
          </a:stretch>
        </p:blipFill>
        <p:spPr>
          <a:xfrm>
            <a:off x="6212785" y="393925"/>
            <a:ext cx="5979215" cy="59021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15105A2-D6A4-740F-1BFE-ABA2320EE045}"/>
              </a:ext>
            </a:extLst>
          </p:cNvPr>
          <p:cNvSpPr/>
          <p:nvPr/>
        </p:nvSpPr>
        <p:spPr>
          <a:xfrm>
            <a:off x="6096000" y="792559"/>
            <a:ext cx="3186896" cy="53324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1B2A25-EB06-B982-0B80-F5E488DEA342}"/>
              </a:ext>
            </a:extLst>
          </p:cNvPr>
          <p:cNvCxnSpPr>
            <a:cxnSpLocks/>
          </p:cNvCxnSpPr>
          <p:nvPr/>
        </p:nvCxnSpPr>
        <p:spPr>
          <a:xfrm flipV="1">
            <a:off x="3565003" y="1214968"/>
            <a:ext cx="2747060" cy="72957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FF3B48-6ED8-424B-ACB8-0686104321E5}"/>
              </a:ext>
            </a:extLst>
          </p:cNvPr>
          <p:cNvCxnSpPr>
            <a:cxnSpLocks/>
          </p:cNvCxnSpPr>
          <p:nvPr/>
        </p:nvCxnSpPr>
        <p:spPr>
          <a:xfrm flipV="1">
            <a:off x="3437681" y="1214968"/>
            <a:ext cx="3333509" cy="333388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724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B5372-3FCE-1BA1-5594-8A8102446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181C508-19B1-41D5-1484-7F826E2AD85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/>
              <a:t>Vista Combinada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8447A2-5C95-9E09-7E35-1A5FDA16B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usuário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32321-B053-DAAC-B9FB-04B5E1640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Introdução ao CAD</a:t>
            </a:r>
            <a:endParaRPr lang="pt-B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CDB26-21A8-66C6-BDB1-7D4D2A5B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E5AB-E52C-4D93-AE2B-4B76F5C227DE}" type="slidenum">
              <a:rPr lang="pt-BR" smtClean="0"/>
              <a:pPr/>
              <a:t>9</a:t>
            </a:fld>
            <a:endParaRPr lang="pt-B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D47607-898C-21AF-6B83-BB9F11E35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99196"/>
            <a:ext cx="5537039" cy="4680000"/>
          </a:xfrm>
        </p:spPr>
        <p:txBody>
          <a:bodyPr anchor="ctr"/>
          <a:lstStyle/>
          <a:p>
            <a:r>
              <a:rPr lang="pt-BR" dirty="0"/>
              <a:t>Aba </a:t>
            </a:r>
            <a:r>
              <a:rPr lang="pt-BR" b="1" i="1" dirty="0" err="1"/>
              <a:t>view</a:t>
            </a:r>
            <a:r>
              <a:rPr lang="pt-BR" dirty="0"/>
              <a:t> e </a:t>
            </a:r>
            <a:r>
              <a:rPr lang="pt-BR" b="1" i="1" dirty="0"/>
              <a:t>data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Informações importantes sobre o modelo!</a:t>
            </a:r>
          </a:p>
          <a:p>
            <a:pPr lvl="1"/>
            <a:r>
              <a:rPr lang="pt-BR" dirty="0"/>
              <a:t>Posição, ângulo, opções</a:t>
            </a:r>
          </a:p>
          <a:p>
            <a:pPr lvl="1"/>
            <a:r>
              <a:rPr lang="pt-BR" dirty="0"/>
              <a:t>Muito usado!</a:t>
            </a:r>
          </a:p>
        </p:txBody>
      </p:sp>
      <p:pic>
        <p:nvPicPr>
          <p:cNvPr id="7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6C8CAC-4A12-13D1-E01F-9AAC8184B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3" r="37196"/>
          <a:stretch>
            <a:fillRect/>
          </a:stretch>
        </p:blipFill>
        <p:spPr>
          <a:xfrm>
            <a:off x="6212785" y="393925"/>
            <a:ext cx="5979215" cy="59021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EC8FF36-4955-C33B-9B00-B6384CD04FE6}"/>
              </a:ext>
            </a:extLst>
          </p:cNvPr>
          <p:cNvSpPr/>
          <p:nvPr/>
        </p:nvSpPr>
        <p:spPr>
          <a:xfrm>
            <a:off x="6096000" y="792559"/>
            <a:ext cx="3186896" cy="53324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FEADD6-5231-2754-4719-B8956B10CD6F}"/>
              </a:ext>
            </a:extLst>
          </p:cNvPr>
          <p:cNvCxnSpPr>
            <a:cxnSpLocks/>
          </p:cNvCxnSpPr>
          <p:nvPr/>
        </p:nvCxnSpPr>
        <p:spPr>
          <a:xfrm>
            <a:off x="3020992" y="3148314"/>
            <a:ext cx="3565003" cy="158573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383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F64E1-7A06-E5D2-5BC4-BD6D1F4FE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D3560AE6-124E-2054-1710-9199D731213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/>
              <a:t>Principais menus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E771D6-CF7F-BFC1-821D-0187C199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usuário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50D80E-3CB4-3FA8-6404-40B912E04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47" t="16884" r="249" b="73617"/>
          <a:stretch>
            <a:fillRect/>
          </a:stretch>
        </p:blipFill>
        <p:spPr>
          <a:xfrm>
            <a:off x="8796967" y="475895"/>
            <a:ext cx="2648591" cy="2725963"/>
          </a:xfrm>
          <a:ln w="38100">
            <a:solidFill>
              <a:srgbClr val="FF0000"/>
            </a:solidFill>
          </a:ln>
        </p:spPr>
      </p:pic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7C977DB0-6E63-756F-A958-782501CC7DB6}"/>
              </a:ext>
            </a:extLst>
          </p:cNvPr>
          <p:cNvSpPr txBox="1">
            <a:spLocks/>
          </p:cNvSpPr>
          <p:nvPr/>
        </p:nvSpPr>
        <p:spPr>
          <a:xfrm>
            <a:off x="342899" y="1499196"/>
            <a:ext cx="4518467" cy="4680000"/>
          </a:xfrm>
          <a:prstGeom prst="rect">
            <a:avLst/>
          </a:prstGeom>
        </p:spPr>
        <p:txBody>
          <a:bodyPr anchor="ctr"/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717550" indent="-260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/>
              <a:t>Esquina superior direita:</a:t>
            </a:r>
          </a:p>
          <a:p>
            <a:pPr lvl="1"/>
            <a:r>
              <a:rPr lang="pt-BR" sz="2400" b="1" dirty="0"/>
              <a:t>Cubo de posição</a:t>
            </a:r>
          </a:p>
          <a:p>
            <a:pPr lvl="1"/>
            <a:r>
              <a:rPr lang="pt-BR" sz="2000" dirty="0"/>
              <a:t>Útil para colocar a peça numa posição em particular</a:t>
            </a:r>
          </a:p>
          <a:p>
            <a:pPr lvl="1"/>
            <a:r>
              <a:rPr lang="pt-BR" sz="2000" dirty="0"/>
              <a:t>Faces, ângulos, rotações</a:t>
            </a:r>
          </a:p>
          <a:p>
            <a:r>
              <a:rPr lang="pt-BR" sz="2800" b="1" dirty="0"/>
              <a:t>Esquina inferior direita:</a:t>
            </a:r>
          </a:p>
          <a:p>
            <a:pPr lvl="1"/>
            <a:r>
              <a:rPr lang="pt-BR" sz="2400" b="1" dirty="0"/>
              <a:t>Eixos </a:t>
            </a:r>
            <a:r>
              <a:rPr lang="pt-BR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pt-BR" sz="24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pt-BR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24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pt-BR" sz="2400" b="1" i="1" dirty="0"/>
              <a:t> </a:t>
            </a:r>
            <a:r>
              <a:rPr lang="pt-BR" sz="2400" b="1" dirty="0"/>
              <a:t>do desenho</a:t>
            </a:r>
          </a:p>
          <a:p>
            <a:endParaRPr lang="pt-BR" sz="2400" dirty="0"/>
          </a:p>
        </p:txBody>
      </p:sp>
      <p:pic>
        <p:nvPicPr>
          <p:cNvPr id="2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BB1C7B-F620-6A23-821D-9E9A607AA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14"/>
          <a:stretch>
            <a:fillRect/>
          </a:stretch>
        </p:blipFill>
        <p:spPr>
          <a:xfrm>
            <a:off x="5592582" y="468559"/>
            <a:ext cx="2473168" cy="6071137"/>
          </a:xfrm>
          <a:prstGeom prst="rect">
            <a:avLst/>
          </a:prstGeom>
        </p:spPr>
      </p:pic>
      <p:pic>
        <p:nvPicPr>
          <p:cNvPr id="3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A1EFFE-EA5F-D806-35DF-F4416141E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56" t="83188" r="157" b="10707"/>
          <a:stretch>
            <a:fillRect/>
          </a:stretch>
        </p:blipFill>
        <p:spPr>
          <a:xfrm>
            <a:off x="8796967" y="3817395"/>
            <a:ext cx="2648592" cy="272596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D35B311-8A63-476F-6E1F-684F1946A73A}"/>
              </a:ext>
            </a:extLst>
          </p:cNvPr>
          <p:cNvSpPr/>
          <p:nvPr/>
        </p:nvSpPr>
        <p:spPr>
          <a:xfrm>
            <a:off x="7440327" y="1444965"/>
            <a:ext cx="625424" cy="6500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45207-DE51-A06D-F877-DEC1AD2739D2}"/>
              </a:ext>
            </a:extLst>
          </p:cNvPr>
          <p:cNvSpPr/>
          <p:nvPr/>
        </p:nvSpPr>
        <p:spPr>
          <a:xfrm>
            <a:off x="7440327" y="5301264"/>
            <a:ext cx="625424" cy="6500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030183-65D4-C502-ADA5-9606BF424E69}"/>
              </a:ext>
            </a:extLst>
          </p:cNvPr>
          <p:cNvCxnSpPr/>
          <p:nvPr/>
        </p:nvCxnSpPr>
        <p:spPr>
          <a:xfrm flipV="1">
            <a:off x="8065750" y="468559"/>
            <a:ext cx="731217" cy="9764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6791B1-B061-FCCF-9FE4-2CCE54B800C3}"/>
              </a:ext>
            </a:extLst>
          </p:cNvPr>
          <p:cNvCxnSpPr>
            <a:cxnSpLocks/>
          </p:cNvCxnSpPr>
          <p:nvPr/>
        </p:nvCxnSpPr>
        <p:spPr>
          <a:xfrm>
            <a:off x="8065749" y="2095019"/>
            <a:ext cx="731217" cy="1114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A07D6D-97B7-5C7A-AC1E-C0FBFCD84E52}"/>
              </a:ext>
            </a:extLst>
          </p:cNvPr>
          <p:cNvCxnSpPr>
            <a:cxnSpLocks/>
          </p:cNvCxnSpPr>
          <p:nvPr/>
        </p:nvCxnSpPr>
        <p:spPr>
          <a:xfrm>
            <a:off x="8065749" y="5951318"/>
            <a:ext cx="731217" cy="5957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83F084-8677-A3D0-7F4E-375C4B1635D0}"/>
              </a:ext>
            </a:extLst>
          </p:cNvPr>
          <p:cNvCxnSpPr>
            <a:cxnSpLocks/>
          </p:cNvCxnSpPr>
          <p:nvPr/>
        </p:nvCxnSpPr>
        <p:spPr>
          <a:xfrm flipV="1">
            <a:off x="8065748" y="3767026"/>
            <a:ext cx="731218" cy="15452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036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CDEC30-78B0-9519-088D-71CBB674840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42900" y="710968"/>
            <a:ext cx="11523133" cy="504000"/>
          </a:xfrm>
        </p:spPr>
        <p:txBody>
          <a:bodyPr/>
          <a:lstStyle/>
          <a:p>
            <a:r>
              <a:rPr lang="pt-BR" dirty="0"/>
              <a:t>O que podemos selecionar do modelo?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7A1E37-5B25-AAC2-9679-C64DF2224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44559"/>
            <a:ext cx="11523133" cy="648000"/>
          </a:xfrm>
        </p:spPr>
        <p:txBody>
          <a:bodyPr/>
          <a:lstStyle/>
          <a:p>
            <a:r>
              <a:rPr lang="pt-BR" dirty="0"/>
              <a:t>Interface de usuário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431D0-9D8A-ABE3-E1C1-E8DF3430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6000" y="6413029"/>
            <a:ext cx="7200000" cy="324000"/>
          </a:xfrm>
        </p:spPr>
        <p:txBody>
          <a:bodyPr/>
          <a:lstStyle/>
          <a:p>
            <a:r>
              <a:rPr lang="pt-BR"/>
              <a:t>Introdução ao CAD</a:t>
            </a:r>
            <a:endParaRPr lang="pt-B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86C6B-D881-9FCC-D0AD-698779EC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6967" y="6413029"/>
            <a:ext cx="990600" cy="324000"/>
          </a:xfrm>
        </p:spPr>
        <p:txBody>
          <a:bodyPr/>
          <a:lstStyle/>
          <a:p>
            <a:fld id="{AB98E5AB-E52C-4D93-AE2B-4B76F5C227DE}" type="slidenum">
              <a:rPr lang="pt-BR" smtClean="0"/>
              <a:pPr/>
              <a:t>11</a:t>
            </a:fld>
            <a:endParaRPr lang="pt-BR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5D2934F9-19A3-EFAF-4BC8-2620E8E79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selecionar partes do modelo para realizar ações</a:t>
            </a:r>
          </a:p>
          <a:p>
            <a:pPr lvl="1"/>
            <a:r>
              <a:rPr lang="pt-BR" dirty="0"/>
              <a:t>Varias partes podem ser selecionadas com a tecla </a:t>
            </a:r>
            <a:r>
              <a:rPr lang="pt-BR" b="1" dirty="0" err="1"/>
              <a:t>control</a:t>
            </a:r>
            <a:endParaRPr lang="pt-BR" b="1" dirty="0"/>
          </a:p>
        </p:txBody>
      </p:sp>
      <p:pic>
        <p:nvPicPr>
          <p:cNvPr id="10" name="Picture 9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7C822CBD-ABAF-9019-1959-627C2AD0F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00" t="26153" r="11037" b="22113"/>
          <a:stretch>
            <a:fillRect/>
          </a:stretch>
        </p:blipFill>
        <p:spPr>
          <a:xfrm>
            <a:off x="4745689" y="2779879"/>
            <a:ext cx="2743151" cy="2758143"/>
          </a:xfrm>
          <a:prstGeom prst="rect">
            <a:avLst/>
          </a:prstGeom>
        </p:spPr>
      </p:pic>
      <p:pic>
        <p:nvPicPr>
          <p:cNvPr id="12" name="Picture 11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29211201-83C1-CDC3-3080-BB115D535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69" t="57230" r="28077" b="24690"/>
          <a:stretch>
            <a:fillRect/>
          </a:stretch>
        </p:blipFill>
        <p:spPr>
          <a:xfrm>
            <a:off x="8516727" y="2779879"/>
            <a:ext cx="2743152" cy="2758141"/>
          </a:xfrm>
          <a:prstGeom prst="rect">
            <a:avLst/>
          </a:prstGeom>
        </p:spPr>
      </p:pic>
      <p:pic>
        <p:nvPicPr>
          <p:cNvPr id="8" name="Picture 7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398A783F-BE8A-0154-0B29-AF2790FC93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20" t="25853" r="10001" b="21210"/>
          <a:stretch>
            <a:fillRect/>
          </a:stretch>
        </p:blipFill>
        <p:spPr>
          <a:xfrm>
            <a:off x="974651" y="2779879"/>
            <a:ext cx="2743151" cy="27581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00EB3C3-65FB-D473-D5B3-3891C5333130}"/>
              </a:ext>
            </a:extLst>
          </p:cNvPr>
          <p:cNvSpPr txBox="1"/>
          <p:nvPr/>
        </p:nvSpPr>
        <p:spPr>
          <a:xfrm>
            <a:off x="1997316" y="5543336"/>
            <a:ext cx="697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Gill Sans MT" panose="020B0502020104020203" pitchFamily="34" charset="77"/>
              </a:rPr>
              <a:t>Faces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20AB6C-8818-69DD-056C-CAB01757B9A2}"/>
              </a:ext>
            </a:extLst>
          </p:cNvPr>
          <p:cNvSpPr txBox="1"/>
          <p:nvPr/>
        </p:nvSpPr>
        <p:spPr>
          <a:xfrm>
            <a:off x="5673777" y="5543336"/>
            <a:ext cx="886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Gill Sans MT" panose="020B0502020104020203" pitchFamily="34" charset="77"/>
              </a:rPr>
              <a:t>Arestas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7FFE8F-B0BD-ED10-C873-017FC54A9946}"/>
              </a:ext>
            </a:extLst>
          </p:cNvPr>
          <p:cNvSpPr txBox="1"/>
          <p:nvPr/>
        </p:nvSpPr>
        <p:spPr>
          <a:xfrm>
            <a:off x="9408941" y="5538020"/>
            <a:ext cx="958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Gill Sans MT" panose="020B0502020104020203" pitchFamily="34" charset="77"/>
              </a:rPr>
              <a:t>Vértices</a:t>
            </a:r>
          </a:p>
        </p:txBody>
      </p:sp>
    </p:spTree>
    <p:extLst>
      <p:ext uri="{BB962C8B-B14F-4D97-AF65-F5344CB8AC3E}">
        <p14:creationId xmlns:p14="http://schemas.microsoft.com/office/powerpoint/2010/main" val="2988024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5F43F5B-E7BB-CA77-32F9-28B7C233A5C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/>
              <a:t>Movimento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F56903-64B4-D135-142D-7E77706B2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usuário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86471-D999-18C4-E9B3-A3A77C78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Introdução ao CAD</a:t>
            </a:r>
            <a:endParaRPr lang="pt-B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7323B-FBA6-38E8-BAEA-D61E0F9F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E5AB-E52C-4D93-AE2B-4B76F5C227DE}" type="slidenum">
              <a:rPr lang="pt-BR" smtClean="0"/>
              <a:pPr/>
              <a:t>12</a:t>
            </a:fld>
            <a:endParaRPr lang="pt-B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22A2B-EE04-01D8-0F79-1E28D3916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99196"/>
            <a:ext cx="7344440" cy="4680000"/>
          </a:xfrm>
        </p:spPr>
        <p:txBody>
          <a:bodyPr anchor="ctr"/>
          <a:lstStyle/>
          <a:p>
            <a:r>
              <a:rPr lang="pt-BR" sz="3200" dirty="0"/>
              <a:t>Se usando modo </a:t>
            </a:r>
            <a:r>
              <a:rPr lang="pt-BR" sz="3200" b="1" i="1" dirty="0" err="1"/>
              <a:t>blender</a:t>
            </a:r>
            <a:r>
              <a:rPr lang="pt-BR" sz="3200" b="1" i="1" dirty="0"/>
              <a:t> (com mouse)</a:t>
            </a:r>
            <a:r>
              <a:rPr lang="pt-BR" sz="3200" dirty="0"/>
              <a:t>:</a:t>
            </a:r>
          </a:p>
          <a:p>
            <a:pPr lvl="1"/>
            <a:r>
              <a:rPr lang="pt-BR" sz="2800" dirty="0"/>
              <a:t>Rotação: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Middle-click</a:t>
            </a:r>
          </a:p>
          <a:p>
            <a:pPr lvl="1"/>
            <a:r>
              <a:rPr lang="pt-BR" sz="2800" dirty="0"/>
              <a:t>Translação: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Shift + Middle-click</a:t>
            </a:r>
          </a:p>
          <a:p>
            <a:r>
              <a:rPr lang="pt-BR" sz="3200" dirty="0"/>
              <a:t>Atalhos de teclado </a:t>
            </a:r>
            <a:r>
              <a:rPr lang="pt-BR" sz="3200" b="1" dirty="0"/>
              <a:t>muito usados</a:t>
            </a:r>
            <a:r>
              <a:rPr lang="pt-BR" sz="3200" dirty="0"/>
              <a:t>:</a:t>
            </a:r>
          </a:p>
          <a:p>
            <a:pPr lvl="1"/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pt-BR" sz="2800" dirty="0"/>
              <a:t> e depois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pt-BR" sz="2800" dirty="0"/>
              <a:t> centraliza a peça (botão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home</a:t>
            </a:r>
            <a:r>
              <a:rPr lang="pt-BR" sz="2800" dirty="0"/>
              <a:t>)</a:t>
            </a:r>
          </a:p>
          <a:p>
            <a:pPr lvl="1"/>
            <a:r>
              <a:rPr lang="pt-BR" sz="2800" dirty="0"/>
              <a:t>Teclas do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pt-BR" sz="2800" dirty="0"/>
              <a:t> ao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pt-BR" sz="2800" dirty="0"/>
              <a:t> alinham com as faces frente, lado, etc.</a:t>
            </a:r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907B9684-9750-DABE-8B02-55C4FB845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907" y="273412"/>
            <a:ext cx="3431806" cy="631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12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9C4C41A4-53BF-4FD0-890F-04B8082AA4F1}" vid="{EE9E2396-C853-4D1A-9E14-2703AA6666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18153</TotalTime>
  <Words>489</Words>
  <Application>Microsoft Macintosh PowerPoint</Application>
  <PresentationFormat>Widescreen</PresentationFormat>
  <Paragraphs>102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Gill Sans MT</vt:lpstr>
      <vt:lpstr>Wingdings</vt:lpstr>
      <vt:lpstr>Office Theme</vt:lpstr>
      <vt:lpstr>Curso de desenho 3D paramétrico: FreeCAD para Makers</vt:lpstr>
      <vt:lpstr>Interface de usuário</vt:lpstr>
      <vt:lpstr>Interface de usuário</vt:lpstr>
      <vt:lpstr>Interface de usuário</vt:lpstr>
      <vt:lpstr>Interface de usuário</vt:lpstr>
      <vt:lpstr>Interface de usuário</vt:lpstr>
      <vt:lpstr>Interface de usuário</vt:lpstr>
      <vt:lpstr>Interface de usuário</vt:lpstr>
      <vt:lpstr>Interface de usuário</vt:lpstr>
      <vt:lpstr>Interface de usuário</vt:lpstr>
      <vt:lpstr>Interface de usuário</vt:lpstr>
      <vt:lpstr>Interface de usuário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</dc:creator>
  <cp:lastModifiedBy>Hector Azpurua</cp:lastModifiedBy>
  <cp:revision>864</cp:revision>
  <dcterms:created xsi:type="dcterms:W3CDTF">2018-07-20T12:21:45Z</dcterms:created>
  <dcterms:modified xsi:type="dcterms:W3CDTF">2025-12-10T23:54:49Z</dcterms:modified>
</cp:coreProperties>
</file>